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Rajdhani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9D1A62-20F7-4AB5-8BF7-930D01B7CBDF}" v="1" dt="2026-09-19T17:21:10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1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TABREZ" userId="bbeef3f5a04de5e7" providerId="LiveId" clId="{CF08EB6E-CF72-4FA1-AB5C-31F2C32450A5}"/>
    <pc:docChg chg="undo custSel modSld sldOrd">
      <pc:chgData name="SYED TABREZ" userId="bbeef3f5a04de5e7" providerId="LiveId" clId="{CF08EB6E-CF72-4FA1-AB5C-31F2C32450A5}" dt="2026-09-19T17:22:13.937" v="473" actId="1038"/>
      <pc:docMkLst>
        <pc:docMk/>
      </pc:docMkLst>
      <pc:sldChg chg="delSp modSp mod">
        <pc:chgData name="SYED TABREZ" userId="bbeef3f5a04de5e7" providerId="LiveId" clId="{CF08EB6E-CF72-4FA1-AB5C-31F2C32450A5}" dt="2026-09-19T17:18:12.819" v="177" actId="403"/>
        <pc:sldMkLst>
          <pc:docMk/>
          <pc:sldMk cId="0" sldId="256"/>
        </pc:sldMkLst>
        <pc:spChg chg="del">
          <ac:chgData name="SYED TABREZ" userId="bbeef3f5a04de5e7" providerId="LiveId" clId="{CF08EB6E-CF72-4FA1-AB5C-31F2C32450A5}" dt="2026-09-19T17:17:47.686" v="168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18:06.174" v="176" actId="115"/>
          <ac:spMkLst>
            <pc:docMk/>
            <pc:sldMk cId="0" sldId="256"/>
            <ac:spMk id="5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18:12.819" v="177" actId="403"/>
          <ac:spMkLst>
            <pc:docMk/>
            <pc:sldMk cId="0" sldId="256"/>
            <ac:spMk id="6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18:02.246" v="175" actId="404"/>
          <ac:spMkLst>
            <pc:docMk/>
            <pc:sldMk cId="0" sldId="256"/>
            <ac:spMk id="8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17:44.046" v="167" actId="403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SYED TABREZ" userId="bbeef3f5a04de5e7" providerId="LiveId" clId="{CF08EB6E-CF72-4FA1-AB5C-31F2C32450A5}" dt="2026-09-19T17:17:52.053" v="171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SYED TABREZ" userId="bbeef3f5a04de5e7" providerId="LiveId" clId="{CF08EB6E-CF72-4FA1-AB5C-31F2C32450A5}" dt="2026-09-19T17:18:23.958" v="179" actId="115"/>
        <pc:sldMkLst>
          <pc:docMk/>
          <pc:sldMk cId="0" sldId="257"/>
        </pc:sldMkLst>
        <pc:spChg chg="mod">
          <ac:chgData name="SYED TABREZ" userId="bbeef3f5a04de5e7" providerId="LiveId" clId="{CF08EB6E-CF72-4FA1-AB5C-31F2C32450A5}" dt="2026-09-19T17:18:21.596" v="178" actId="115"/>
          <ac:spMkLst>
            <pc:docMk/>
            <pc:sldMk cId="0" sldId="257"/>
            <ac:spMk id="6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18:23.958" v="179" actId="115"/>
          <ac:spMkLst>
            <pc:docMk/>
            <pc:sldMk cId="0" sldId="257"/>
            <ac:spMk id="8" creationId="{00000000-0000-0000-0000-000000000000}"/>
          </ac:spMkLst>
        </pc:spChg>
      </pc:sldChg>
      <pc:sldChg chg="modSp mod ord">
        <pc:chgData name="SYED TABREZ" userId="bbeef3f5a04de5e7" providerId="LiveId" clId="{CF08EB6E-CF72-4FA1-AB5C-31F2C32450A5}" dt="2026-09-19T17:16:01.730" v="11" actId="1035"/>
        <pc:sldMkLst>
          <pc:docMk/>
          <pc:sldMk cId="0" sldId="258"/>
        </pc:sldMkLst>
        <pc:spChg chg="mod">
          <ac:chgData name="SYED TABREZ" userId="bbeef3f5a04de5e7" providerId="LiveId" clId="{CF08EB6E-CF72-4FA1-AB5C-31F2C32450A5}" dt="2026-09-19T17:16:01.730" v="11" actId="1035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SYED TABREZ" userId="bbeef3f5a04de5e7" providerId="LiveId" clId="{CF08EB6E-CF72-4FA1-AB5C-31F2C32450A5}" dt="2026-09-19T17:22:13.937" v="473" actId="1038"/>
        <pc:sldMkLst>
          <pc:docMk/>
          <pc:sldMk cId="0" sldId="260"/>
        </pc:sldMkLst>
        <pc:spChg chg="mod">
          <ac:chgData name="SYED TABREZ" userId="bbeef3f5a04de5e7" providerId="LiveId" clId="{CF08EB6E-CF72-4FA1-AB5C-31F2C32450A5}" dt="2026-09-19T17:21:42.126" v="455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19:35.997" v="264" actId="10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20:20.279" v="370" actId="1037"/>
          <ac:spMkLst>
            <pc:docMk/>
            <pc:sldMk cId="0" sldId="260"/>
            <ac:spMk id="5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22:13.937" v="473" actId="1038"/>
          <ac:spMkLst>
            <pc:docMk/>
            <pc:sldMk cId="0" sldId="260"/>
            <ac:spMk id="6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19:30.608" v="247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20:38.727" v="373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21:31.001" v="451" actId="403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20:25.993" v="371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SYED TABREZ" userId="bbeef3f5a04de5e7" providerId="LiveId" clId="{CF08EB6E-CF72-4FA1-AB5C-31F2C32450A5}" dt="2026-09-19T17:22:06.188" v="460" actId="207"/>
          <ac:spMkLst>
            <pc:docMk/>
            <pc:sldMk cId="0" sldId="260"/>
            <ac:spMk id="24" creationId="{00000000-0000-0000-0000-000000000000}"/>
          </ac:spMkLst>
        </pc:spChg>
      </pc:sldChg>
      <pc:sldChg chg="delSp modSp mod">
        <pc:chgData name="SYED TABREZ" userId="bbeef3f5a04de5e7" providerId="LiveId" clId="{CF08EB6E-CF72-4FA1-AB5C-31F2C32450A5}" dt="2026-09-19T17:16:48.918" v="85"/>
        <pc:sldMkLst>
          <pc:docMk/>
          <pc:sldMk cId="0" sldId="261"/>
        </pc:sldMkLst>
        <pc:spChg chg="mod">
          <ac:chgData name="SYED TABREZ" userId="bbeef3f5a04de5e7" providerId="LiveId" clId="{CF08EB6E-CF72-4FA1-AB5C-31F2C32450A5}" dt="2026-09-19T17:16:47.705" v="83" actId="14100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SYED TABREZ" userId="bbeef3f5a04de5e7" providerId="LiveId" clId="{CF08EB6E-CF72-4FA1-AB5C-31F2C32450A5}" dt="2026-09-19T17:16:48.918" v="85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SYED TABREZ" userId="bbeef3f5a04de5e7" providerId="LiveId" clId="{CF08EB6E-CF72-4FA1-AB5C-31F2C32450A5}" dt="2026-09-19T17:16:24.123" v="34" actId="1036"/>
        <pc:sldMkLst>
          <pc:docMk/>
          <pc:sldMk cId="0" sldId="262"/>
        </pc:sldMkLst>
        <pc:spChg chg="mod">
          <ac:chgData name="SYED TABREZ" userId="bbeef3f5a04de5e7" providerId="LiveId" clId="{CF08EB6E-CF72-4FA1-AB5C-31F2C32450A5}" dt="2026-09-19T17:16:24.123" v="34" actId="1036"/>
          <ac:spMkLst>
            <pc:docMk/>
            <pc:sldMk cId="0" sldId="262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23268"/>
            <a:ext cx="2757338" cy="361950"/>
          </a:xfrm>
          <a:prstGeom prst="roundRect">
            <a:avLst>
              <a:gd name="adj" fmla="val 15789"/>
            </a:avLst>
          </a:prstGeom>
          <a:solidFill>
            <a:srgbClr val="0F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4682281"/>
            <a:ext cx="4038600" cy="552450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175718"/>
            <a:ext cx="9601200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sng" dirty="0">
                <a:solidFill>
                  <a:srgbClr val="F8FAFC"/>
                </a:solidFill>
                <a:latin typeface="Times New Roman"/>
              </a:rPr>
              <a:t>Declarative Smart Batching Executor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92859"/>
            <a:ext cx="771525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400" b="1" i="0" u="none" dirty="0">
                <a:solidFill>
                  <a:srgbClr val="CBD5E1"/>
                </a:solidFill>
                <a:latin typeface="Rajdhani"/>
              </a:rPr>
              <a:t>ERC-8211 Execution Module for ERC-7579 Modular Smart Accounts &amp; EIP-7702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1680418"/>
            <a:ext cx="2585888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Times New Roman"/>
              </a:rPr>
              <a:t>TEAM CHICKEN ROLL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3638" y="1670893"/>
            <a:ext cx="118013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94A3B8"/>
                </a:solidFill>
                <a:latin typeface="Rajdhani"/>
              </a:rPr>
              <a:t>| </a:t>
            </a:r>
            <a:r>
              <a:rPr lang="en-IN" sz="2000" dirty="0">
                <a:solidFill>
                  <a:srgbClr val="94A3B8"/>
                </a:solidFill>
                <a:latin typeface="Rajdhani"/>
              </a:rPr>
              <a:t>PARADOX</a:t>
            </a:r>
            <a:endParaRPr sz="2000" b="0" i="0" u="none" dirty="0">
              <a:solidFill>
                <a:srgbClr val="94A3B8"/>
              </a:solidFill>
              <a:latin typeface="Rajdhan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550" y="4815631"/>
            <a:ext cx="37147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8FAFC"/>
                </a:solidFill>
                <a:latin typeface="Rajdhani"/>
              </a:rPr>
              <a:t>Track: </a:t>
            </a:r>
            <a:r>
              <a:rPr lang="en-IN" sz="2000" b="1" dirty="0">
                <a:solidFill>
                  <a:srgbClr val="F8FAFC"/>
                </a:solidFill>
                <a:latin typeface="Rajdhani"/>
              </a:rPr>
              <a:t>Open Innovation</a:t>
            </a:r>
            <a:endParaRPr sz="2000" b="1" i="0" u="none" dirty="0">
              <a:solidFill>
                <a:srgbClr val="F8FAFC"/>
              </a:solidFill>
              <a:latin typeface="Rajdhan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80120"/>
            <a:ext cx="5181600" cy="4606379"/>
          </a:xfrm>
          <a:prstGeom prst="roundRect">
            <a:avLst>
              <a:gd name="adj" fmla="val 330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680120"/>
            <a:ext cx="5181600" cy="4606379"/>
          </a:xfrm>
          <a:prstGeom prst="roundRect">
            <a:avLst>
              <a:gd name="adj" fmla="val 330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0763250" cy="803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Rajdhani"/>
              </a:rPr>
              <a:t>Problem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95350"/>
            <a:ext cx="11430000" cy="4799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Times New Roman"/>
              </a:rPr>
              <a:t>The Limitation of Static Smart Account Batching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425" y="3002160"/>
            <a:ext cx="2500685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sng" dirty="0">
                <a:solidFill>
                  <a:srgbClr val="F8FAFC"/>
                </a:solidFill>
                <a:latin typeface="Times New Roman"/>
              </a:rPr>
              <a:t>Static </a:t>
            </a:r>
            <a:r>
              <a:rPr sz="2250" b="1" i="0" u="sng" dirty="0" err="1">
                <a:solidFill>
                  <a:srgbClr val="F8FAFC"/>
                </a:solidFill>
                <a:latin typeface="Times New Roman"/>
              </a:rPr>
              <a:t>Calldata</a:t>
            </a:r>
            <a:r>
              <a:rPr sz="2250" b="1" i="0" u="sng" dirty="0">
                <a:solidFill>
                  <a:srgbClr val="F8FAFC"/>
                </a:solidFill>
                <a:latin typeface="Times New Roman"/>
              </a:rPr>
              <a:t>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3478410"/>
            <a:ext cx="4572000" cy="148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Rajdhani"/>
              </a:rPr>
              <a:t>Traditional batches rely on rigid pre-signed calldata that cannot adapt to market shifts or price volatility occurring between transaction signing and on-chain execution.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002160"/>
            <a:ext cx="3847335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sng" dirty="0">
                <a:solidFill>
                  <a:srgbClr val="F8FAFC"/>
                </a:solidFill>
                <a:latin typeface="Times New Roman"/>
              </a:rPr>
              <a:t>ERC-8211 Declarative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478410"/>
            <a:ext cx="4572000" cy="148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Rajdhani"/>
              </a:rPr>
              <a:t>Parameters resolve dynamically at runtime using live Chainlink oracles, automatically enforcing safety bounds and inline constraints without trusted intermediaries.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443500"/>
            <a:ext cx="10668000" cy="5394424"/>
          </a:xfrm>
          <a:prstGeom prst="roundRect">
            <a:avLst>
              <a:gd name="adj" fmla="val 282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571500"/>
            <a:ext cx="10763250" cy="803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Rajdhan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95350"/>
            <a:ext cx="11430000" cy="4799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Times New Roman"/>
              </a:rPr>
              <a:t>Robust &amp; Production-Grade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8725" y="1899195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800" y="1880145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Smart Contracts Layer: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Solidity architecture backed by OpenZeppelin modular security libraries and Foundry framework for advanced gas optimization and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8725" y="2731591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2712541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Account Abstraction Standards: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Native ERC-7579 execution modules, EIP-7702 delegated EOA upgrades, and seamless integration with the Biconomy Nexus SDK.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3563987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3544937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Oracles &amp; Data Feeds: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Chainlink price feeds coupled with bespoke MockOracle infrastructure to guarantee testnet resilience and deterministic demonstrations.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8725" y="4396382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4377332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Frontend &amp; Interface: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React and Vite user application leveraging Viem and EIP-712 structured data signing workflows for secure intent submission.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8725" y="5228778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5209728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Security &amp; Validation: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Strict domain separators, cryptographic payload verification, and heavily isolated execution modules preventing privilege escalation.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8725" y="6061174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6042124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Automation &amp; Relayers: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Multi-provider RPC connection fallbacks and keeper script compatibility to ensure uninterrupted automated batch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595687"/>
            <a:ext cx="10668000" cy="2495550"/>
          </a:xfrm>
          <a:prstGeom prst="roundRect">
            <a:avLst>
              <a:gd name="adj" fmla="val 53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681162"/>
            <a:ext cx="2359818" cy="1724025"/>
          </a:xfrm>
          <a:prstGeom prst="roundRect">
            <a:avLst>
              <a:gd name="adj" fmla="val 77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531393" y="1681162"/>
            <a:ext cx="2359818" cy="1724025"/>
          </a:xfrm>
          <a:prstGeom prst="roundRect">
            <a:avLst>
              <a:gd name="adj" fmla="val 77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0787" y="1681162"/>
            <a:ext cx="2359818" cy="1724025"/>
          </a:xfrm>
          <a:prstGeom prst="roundRect">
            <a:avLst>
              <a:gd name="adj" fmla="val 77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70181" y="1681162"/>
            <a:ext cx="2359818" cy="1724025"/>
          </a:xfrm>
          <a:prstGeom prst="roundRect">
            <a:avLst>
              <a:gd name="adj" fmla="val 77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118" y="2438400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512" y="2438400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906" y="2438400"/>
            <a:ext cx="180975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476250"/>
            <a:ext cx="107632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Rajdhani"/>
              </a:rPr>
              <a:t>Architecture &amp;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Times New Roman"/>
              </a:rPr>
              <a:t>System Architecture &amp; Detailed Data Flow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241" y="1947862"/>
            <a:ext cx="249733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Times New Roman"/>
              </a:rPr>
              <a:t>STEP 1: USER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241" y="2176462"/>
            <a:ext cx="249733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Rajdhani"/>
              </a:rPr>
              <a:t>React &amp; Viem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241" y="2481262"/>
            <a:ext cx="249733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BD5E1"/>
                </a:solidFill>
                <a:latin typeface="Rajdhani"/>
              </a:rPr>
              <a:t>User signs EIP-712 structured declarative payload.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2635" y="1862137"/>
            <a:ext cx="249733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Times New Roman"/>
              </a:rPr>
              <a:t>STEP 2: ACCOUNT 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2635" y="2262187"/>
            <a:ext cx="249733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Rajdhani"/>
              </a:rPr>
              <a:t>ERC-7579 / EIP-7702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2635" y="2566987"/>
            <a:ext cx="249733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BD5E1"/>
                </a:solidFill>
                <a:latin typeface="Rajdhani"/>
              </a:rPr>
              <a:t>Modular smart account forwards UserOperation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2028" y="1947862"/>
            <a:ext cx="249733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Times New Roman"/>
              </a:rPr>
              <a:t>STEP 3: RUNTIME 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2028" y="2176462"/>
            <a:ext cx="249733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Rajdhani"/>
              </a:rPr>
              <a:t>ERC-8211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2028" y="2481262"/>
            <a:ext cx="249733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BD5E1"/>
                </a:solidFill>
                <a:latin typeface="Rajdhani"/>
              </a:rPr>
              <a:t>Queries live Chainlink price feeds and validates constraints.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1422" y="1947862"/>
            <a:ext cx="249733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Times New Roman"/>
              </a:rPr>
              <a:t>STEP 4: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1422" y="2176462"/>
            <a:ext cx="249733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Rajdhani"/>
              </a:rPr>
              <a:t>Target DEX / Protocols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1422" y="2481262"/>
            <a:ext cx="249733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BD5E1"/>
                </a:solidFill>
                <a:latin typeface="Rajdhani"/>
              </a:rPr>
              <a:t>Executes batch swap securely under valid price limits.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425" y="3814762"/>
            <a:ext cx="46640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Times New Roman"/>
              </a:rPr>
              <a:t>Pipeline Mechanics &amp; Verification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9675" y="3819525"/>
            <a:ext cx="2809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8BDF8"/>
                </a:solidFill>
                <a:latin typeface="Rajdhani"/>
              </a:rPr>
              <a:t>Trustless On-Chain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4425" y="4324350"/>
            <a:ext cx="3429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5875" y="4176712"/>
            <a:ext cx="9886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F8FAFC"/>
                </a:solidFill>
                <a:latin typeface="Rajdhani"/>
              </a:rPr>
              <a:t>Asynchronous Intent Creation:</a:t>
            </a:r>
            <a:r>
              <a:rPr sz="1575" b="0" i="0" u="none">
                <a:solidFill>
                  <a:srgbClr val="CBD5E1"/>
                </a:solidFill>
                <a:latin typeface="Rajdhani"/>
              </a:rPr>
              <a:t> User signs declarative payloads off-chain through EIP-712 without locking fixed calldata values.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425" y="4914900"/>
            <a:ext cx="3429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5875" y="4767262"/>
            <a:ext cx="9886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F8FAFC"/>
                </a:solidFill>
                <a:latin typeface="Rajdhani"/>
              </a:rPr>
              <a:t>Inline Constraint Verification:</a:t>
            </a:r>
            <a:r>
              <a:rPr sz="1575" b="0" i="0" u="none">
                <a:solidFill>
                  <a:srgbClr val="CBD5E1"/>
                </a:solidFill>
                <a:latin typeface="Rajdhani"/>
              </a:rPr>
              <a:t> Module evaluates slippage thresholds and oracle freshness dynamically before forwarding calls to downstream protocols.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4425" y="5505450"/>
            <a:ext cx="3429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5875" y="5357812"/>
            <a:ext cx="9886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F8FAFC"/>
                </a:solidFill>
                <a:latin typeface="Rajdhani"/>
              </a:rPr>
              <a:t>Fail-Safe Execution Policies:</a:t>
            </a:r>
            <a:r>
              <a:rPr sz="1575" b="0" i="0" u="none">
                <a:solidFill>
                  <a:srgbClr val="CBD5E1"/>
                </a:solidFill>
                <a:latin typeface="Rajdhani"/>
              </a:rPr>
              <a:t> Automatically triggers configured fallback behavior (revert or skip) if market volatility breaches pre-set boundaries.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459542"/>
            <a:ext cx="10668000" cy="5394424"/>
          </a:xfrm>
          <a:prstGeom prst="roundRect">
            <a:avLst>
              <a:gd name="adj" fmla="val 282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1447800" y="2236291"/>
            <a:ext cx="4843313" cy="295275"/>
          </a:xfrm>
          <a:prstGeom prst="roundRect">
            <a:avLst>
              <a:gd name="adj" fmla="val 1935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42434" y="2908053"/>
            <a:ext cx="1699617" cy="295275"/>
          </a:xfrm>
          <a:prstGeom prst="roundRect">
            <a:avLst>
              <a:gd name="adj" fmla="val 1935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09685" y="3901082"/>
            <a:ext cx="1699617" cy="295275"/>
          </a:xfrm>
          <a:prstGeom prst="roundRect">
            <a:avLst>
              <a:gd name="adj" fmla="val 19354"/>
            </a:avLst>
          </a:prstGeom>
          <a:solidFill>
            <a:srgbClr val="3C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720923" y="3901082"/>
            <a:ext cx="1322337" cy="295275"/>
          </a:xfrm>
          <a:prstGeom prst="roundRect">
            <a:avLst>
              <a:gd name="adj" fmla="val 19354"/>
            </a:avLst>
          </a:prstGeom>
          <a:solidFill>
            <a:srgbClr val="1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10763250" cy="803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Rajdhani"/>
              </a:rPr>
              <a:t>Core Mechanics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95350"/>
            <a:ext cx="11430000" cy="4799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Times New Roman"/>
              </a:rPr>
              <a:t>Dynamic Resolution &amp; Failure Policies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1899195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1880145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Runtime Formula Evaluation: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Parameters resolve dynamically via signed formulas such as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8725" y="2731591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2921087"/>
            <a:ext cx="9610725" cy="64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 dirty="0">
                <a:solidFill>
                  <a:srgbClr val="F8FAFC"/>
                </a:solidFill>
                <a:latin typeface="Rajdhani"/>
              </a:rPr>
              <a:t>Oracle Freshness Verification:</a:t>
            </a:r>
            <a:r>
              <a:rPr sz="1875" b="0" i="0" u="none" dirty="0">
                <a:solidFill>
                  <a:srgbClr val="CBD5E1"/>
                </a:solidFill>
                <a:latin typeface="Rajdhani"/>
              </a:rPr>
              <a:t> Automatically checks</a:t>
            </a:r>
            <a:r>
              <a:rPr lang="en-IN" sz="1875" b="0" i="0" u="none" dirty="0">
                <a:solidFill>
                  <a:srgbClr val="CBD5E1"/>
                </a:solidFill>
                <a:latin typeface="Rajdhani"/>
              </a:rPr>
              <a:t>				</a:t>
            </a:r>
            <a:r>
              <a:rPr sz="1875" b="0" i="0" u="none" dirty="0">
                <a:solidFill>
                  <a:srgbClr val="CBD5E1"/>
                </a:solidFill>
                <a:latin typeface="Rajdhani"/>
              </a:rPr>
              <a:t> timestamps on-chain to reject outdated or manipulated price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8725" y="3563987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3544937"/>
            <a:ext cx="9610725" cy="31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 dirty="0">
                <a:solidFill>
                  <a:srgbClr val="F8FAFC"/>
                </a:solidFill>
                <a:latin typeface="Rajdhani"/>
              </a:rPr>
              <a:t>Configurable Failure Policies:</a:t>
            </a:r>
            <a:r>
              <a:rPr sz="1875" b="0" i="0" u="none" dirty="0">
                <a:solidFill>
                  <a:srgbClr val="CBD5E1"/>
                </a:solidFill>
                <a:latin typeface="Rajdhani"/>
              </a:rPr>
              <a:t> Grants users absolute control to dictate whether failed transactions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8725" y="4396382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4377332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Trustless Price Bounds: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Eliminates dependence on centralized keepers by enforcing strict cryptographic constraints directly inside smart contracts.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8725" y="5228778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7800" y="5209728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Inline Constraint Validation: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Verifies multi-asset pricing boundaries in-flight before executing any downstream contract calls.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8725" y="6061174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7800" y="6042124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Zero Extra Signatures: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Dynamic parameters adapt automatically without requiring users to re-sign transactions during high volatility.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3050" y="2264866"/>
            <a:ext cx="586364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minAmountOut = price * (1 - slippage)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2062" y="2888502"/>
            <a:ext cx="1298882" cy="2821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i="0" u="none" dirty="0" err="1">
                <a:solidFill>
                  <a:srgbClr val="38BDF8"/>
                </a:solidFill>
                <a:latin typeface="monospace"/>
              </a:rPr>
              <a:t>maxStaleness</a:t>
            </a:r>
            <a:endParaRPr b="1" i="0" u="none" dirty="0">
              <a:solidFill>
                <a:srgbClr val="38BDF8"/>
              </a:solidFill>
              <a:latin typeface="monospace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37009" y="3929657"/>
            <a:ext cx="1384995" cy="277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 dirty="0">
                <a:solidFill>
                  <a:srgbClr val="F87171"/>
                </a:solidFill>
                <a:latin typeface="monospace"/>
              </a:rPr>
              <a:t>REVERT_BATCH</a:t>
            </a:r>
            <a:r>
              <a:rPr lang="en-IN" sz="1650" b="1" i="0" u="none" dirty="0">
                <a:solidFill>
                  <a:srgbClr val="F87171"/>
                </a:solidFill>
                <a:latin typeface="monospace"/>
              </a:rPr>
              <a:t>	</a:t>
            </a:r>
            <a:endParaRPr sz="1650" b="1" i="0" u="none" dirty="0">
              <a:solidFill>
                <a:srgbClr val="F87171"/>
              </a:solidFill>
              <a:latin typeface="monospace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66992" y="3929657"/>
            <a:ext cx="1370568" cy="277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IN" sz="1650" b="1" i="0" u="none" dirty="0">
                <a:solidFill>
                  <a:schemeClr val="bg2"/>
                </a:solidFill>
                <a:latin typeface="monospace"/>
              </a:rPr>
              <a:t>Or</a:t>
            </a:r>
            <a:r>
              <a:rPr lang="en-IN" sz="1650" b="1" i="0" u="none" dirty="0">
                <a:solidFill>
                  <a:srgbClr val="4ADE80"/>
                </a:solidFill>
                <a:latin typeface="monospace"/>
              </a:rPr>
              <a:t>	</a:t>
            </a:r>
            <a:r>
              <a:rPr sz="1650" b="1" i="0" u="none" dirty="0">
                <a:solidFill>
                  <a:srgbClr val="4ADE80"/>
                </a:solidFill>
                <a:latin typeface="monospace"/>
              </a:rPr>
              <a:t>SKIP_CALL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507669"/>
            <a:ext cx="10668000" cy="5350332"/>
          </a:xfrm>
          <a:prstGeom prst="roundRect">
            <a:avLst>
              <a:gd name="adj" fmla="val 249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571500"/>
            <a:ext cx="10763250" cy="803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Rajdhani"/>
              </a:rP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95350"/>
            <a:ext cx="11430000" cy="4799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Times New Roman"/>
              </a:rPr>
              <a:t>Risk Matrix &amp; Technical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8725" y="1899195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800" y="1880145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Stale Testnet Feeds: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Mitigated by deploying MockOracle.sol with direct UI override setters for smooth, predictable live demonstrations.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8725" y="2712541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2693491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Gas Overhead: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Minimized runtime costs by streamlining calldata decoding logic and eliminating redundant storage reads (SLOADs).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3525887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3506837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EIP-7702 Compatibility: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Adhered strictly to standardized Biconomy Nexus SDK templates for safe, error-free module installation.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8725" y="4339232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4320182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RPC Rate Limits: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Configured multi-provider fallbacks in Viem to prevent frontend freezing during high-frequency queries.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8725" y="5152578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5133528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Signature Replay: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Secured payload validation using strict EIP-712 domain separators tied to specific chain IDs and accounts.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8725" y="5965924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5946874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Partial Failure Cascades: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Implemented configurable SKIP_CALL versus REVERT_BATCH boundaries to prevent unexpected rollbacks.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8725" y="6779269"/>
            <a:ext cx="352425" cy="787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539752"/>
            <a:ext cx="10668000" cy="5299174"/>
          </a:xfrm>
          <a:prstGeom prst="roundRect">
            <a:avLst>
              <a:gd name="adj" fmla="val 287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571500"/>
            <a:ext cx="10763250" cy="803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Rajdhani"/>
              </a:rPr>
              <a:t>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95350"/>
            <a:ext cx="11430000" cy="4799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Times New Roman"/>
              </a:rPr>
              <a:t>Comprehensive Project Summary &amp;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8725" y="1899195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800" y="1880145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ERC-7579 Native Compatibility: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Seamlessly plugs into existing modular smart account architectures without breaking standard interface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8725" y="2712541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2693491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Dynamic On-Chain Resolution: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Computes precise slippage and output parameters on-the-fly using live Chainlink oracle feeds during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3525887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3506837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Graceful Failure Policies: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Configurable fallback actions allow multi-call batches to skip invalid steps rather than reverting the entire transaction.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8725" y="4339232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4320182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EIP-7702 EOA Upgradability: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Enables standard EOAs to temporarily act as smart accounts and execute declarative batches instantly.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8725" y="5152578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5133528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Production-Ready Tooling: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Backed by the Biconomy Nexus SDK, Viem, and Foundry for a robust developer and end-user experience.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8725" y="5965924"/>
            <a:ext cx="352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Rajdhani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5946874"/>
            <a:ext cx="9610725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 i="0" u="none">
                <a:solidFill>
                  <a:srgbClr val="F8FAFC"/>
                </a:solidFill>
                <a:latin typeface="Rajdhani"/>
              </a:rPr>
              <a:t>Enhanced Security Guarantees:</a:t>
            </a:r>
            <a:r>
              <a:rPr sz="1875" b="0" i="0" u="none">
                <a:solidFill>
                  <a:srgbClr val="CBD5E1"/>
                </a:solidFill>
                <a:latin typeface="Rajdhani"/>
              </a:rPr>
              <a:t> Eliminates reliance on centralized third-party keepers by enforcing trustless cryptographic constraints on-chain.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758</Words>
  <Application>Microsoft Office PowerPoint</Application>
  <PresentationFormat>Widescreen</PresentationFormat>
  <Paragraphs>94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Rajdhani</vt:lpstr>
      <vt:lpstr>Times New Roman</vt:lpstr>
      <vt:lpstr>Arial</vt:lpstr>
      <vt:lpstr>Calibri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TABREZ</cp:lastModifiedBy>
  <cp:revision>1</cp:revision>
  <dcterms:created xsi:type="dcterms:W3CDTF">2013-01-27T09:14:16Z</dcterms:created>
  <dcterms:modified xsi:type="dcterms:W3CDTF">2026-09-19T17:22:15Z</dcterms:modified>
  <cp:category/>
</cp:coreProperties>
</file>